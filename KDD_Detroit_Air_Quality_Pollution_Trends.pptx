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a48fd605b4dd6" /><Relationship Type="http://schemas.openxmlformats.org/officeDocument/2006/relationships/extended-properties" Target="/docProps/app.xml" Id="R225bc835066840e5" /><Relationship Type="http://schemas.openxmlformats.org/officeDocument/2006/relationships/officeDocument" Target="/ppt/presentation.xml" Id="Rece2789a841e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03ca4627a4b78"/>
  </p:sldMasterIdLst>
  <p:notesMasterIdLst>
    <p:notesMasterId xmlns:r="http://schemas.openxmlformats.org/officeDocument/2006/relationships" r:id="R0186d9405e20417b"/>
  </p:notesMasterIdLst>
  <p:sldIdLst>
    <p:sldId xmlns:r="http://schemas.openxmlformats.org/officeDocument/2006/relationships" id="256" r:id="Rc5df546d3fa143a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6e3a28d3248a4" /><Relationship Type="http://schemas.openxmlformats.org/officeDocument/2006/relationships/slideMaster" Target="/ppt/slideMasters/slideMaster1.xml" Id="R37a03ca4627a4b78" /><Relationship Type="http://schemas.openxmlformats.org/officeDocument/2006/relationships/notesMaster" Target="/ppt/notesMasters/notesMaster1.xml" Id="R0186d9405e20417b" /><Relationship Type="http://schemas.openxmlformats.org/officeDocument/2006/relationships/presProps" Target="/ppt/presProps.xml" Id="R4bc8e9b10f834be0" /><Relationship Type="http://schemas.openxmlformats.org/officeDocument/2006/relationships/tableStyles" Target="/ppt/tableStyles.xml" Id="Rc14d5094fb6b498d" /><Relationship Type="http://schemas.openxmlformats.org/officeDocument/2006/relationships/slide" Target="/ppt/slides/slide1.xml" Id="Rc5df546d3fa1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d54ba4328142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23236613f4ef2" /><Relationship Type="http://schemas.openxmlformats.org/officeDocument/2006/relationships/notesMaster" Target="/ppt/notesMasters/notesMaster1.xml" Id="Rcda7ce02d27640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2ca5b65c24e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8d53466dbd465e" /><Relationship Type="http://schemas.openxmlformats.org/officeDocument/2006/relationships/slideLayout" Target="/ppt/slideLayouts/slideLayout1.xml" Id="R9bb48d6cfe7148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48d6cfe7148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afeae312b428a" /><Relationship Type="http://schemas.openxmlformats.org/officeDocument/2006/relationships/image" Target="/ppt/media/image.png" Id="R7a1a0e9936c14110" /><Relationship Type="http://schemas.openxmlformats.org/officeDocument/2006/relationships/image" Target="/ppt/media/image2.png" Id="Rdbf39e0a8b3e414b" /><Relationship Type="http://schemas.openxmlformats.org/officeDocument/2006/relationships/image" Target="/ppt/media/image3.png" Id="Rf443f7d4803f42bd" /><Relationship Type="http://schemas.openxmlformats.org/officeDocument/2006/relationships/notesSlide" Target="/ppt/notesSlides/notesSlide1.xml" Id="R3d8ed7532a1744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97C05-B7D9-4141-9C2C-CF6E8C90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2"/>
          </a:solidFill>
          <a:ln xmlns:a="http://schemas.openxmlformats.org/drawingml/2006/main" w="0">
            <a:solidFill>
              <a:srgbClr val="123F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F2A82-0B79-4316-A6FF-5108DB4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390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Detroit’s Air Quality Varies Sharply by Site and Season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D2B43-C8B5-4F7F-82F3-CBD7DA57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390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FE9EF"/>
                </a:solidFill>
              </a:defRPr>
            </a:pPr>
            <a:r>
              <a:rPr sz="1275" b="0">
                <a:solidFill>
                  <a:srgbClr val="CFE9EF"/>
                </a:solidFill>
              </a:rPr>
              <a:t>PM2.5 and ozone monitoring patterns across Detroit-area locations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E754F-2DBC-4335-9C74-67767AF3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326C1-8127-4C0E-90C9-5650CD14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790"/>
          </a:solidFill>
          <a:ln xmlns:a="http://schemas.openxmlformats.org/drawingml/2006/main" w="0">
            <a:solidFill>
              <a:srgbClr val="2F87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4F63A-E386-45DA-9590-0D9BC56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F62"/>
                </a:solidFill>
              </a:defRPr>
            </a:pPr>
            <a:r>
              <a:rPr sz="1875" b="1">
                <a:solidFill>
                  <a:srgbClr val="123F62"/>
                </a:solidFill>
              </a:rPr>
              <a:t>Where are the highest measurements?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35624-3F64-4E82-8635-E9AA0001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3906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a0e9936c14110"/>
          <a:stretch xmlns:a="http://schemas.openxmlformats.org/drawingml/2006/main"/>
        </p:blipFill>
        <p:spPr>
          <a:xfrm xmlns:a="http://schemas.openxmlformats.org/drawingml/2006/main">
            <a:off x="3352800" y="2047875"/>
            <a:ext cx="4095750" cy="209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D5CDE-193E-41CF-AB88-1D941FE1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790"/>
                </a:solidFill>
              </a:defRPr>
            </a:pPr>
            <a:r>
              <a:rPr sz="1350" b="1">
                <a:solidFill>
                  <a:srgbClr val="2F8790"/>
                </a:solidFill>
              </a:rPr>
              <a:t>KEY FINDING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A40F4-9419-446E-A2A8-72BCCE86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F62"/>
                </a:solidFill>
              </a:defRPr>
            </a:pPr>
            <a:r>
              <a:rPr sz="2025" b="1">
                <a:solidFill>
                  <a:srgbClr val="123F62"/>
                </a:solidFill>
              </a:rPr>
              <a:t>A small number of sites drive the highest observed readings.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D1126-392B-4830-9AC6-9E40F335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B"/>
                </a:solidFill>
              </a:defRPr>
            </a:pPr>
            <a:r>
              <a:rPr sz="1275" b="0">
                <a:solidFill>
                  <a:srgbClr val="526A7B"/>
                </a:solidFill>
              </a:rPr>
              <a:t>Eliza Howell shows the highest average PM2.5 among the sites analyzed. East 7 Mile and Oak Park rank among the highest for ozone.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7FA27-6AD9-4ED1-9213-97852050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790"/>
          </a:solidFill>
          <a:ln xmlns:a="http://schemas.openxmlformats.org/drawingml/2006/main" w="0">
            <a:solidFill>
              <a:srgbClr val="2F87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190FD-F46B-4F94-B706-D57C88EF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F62"/>
                </a:solidFill>
              </a:defRPr>
            </a:pPr>
            <a:r>
              <a:rPr sz="1875" b="1">
                <a:solidFill>
                  <a:srgbClr val="123F62"/>
                </a:solidFill>
              </a:rPr>
              <a:t>How do concentrations change over time?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04922-3BFD-40B4-BB2A-7FD7397A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6675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5386E-90B3-44E8-9FC9-BBDDFC8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6953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28F66-98A8-421A-8E00-9CA18495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F62"/>
                </a:solidFill>
              </a:defRPr>
            </a:pPr>
            <a:r>
              <a:rPr sz="1650" b="1">
                <a:solidFill>
                  <a:srgbClr val="123F62"/>
                </a:solidFill>
              </a:rPr>
              <a:t>PM2.5: highest vs. lowest site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39e0a8b3e414b"/>
          <a:stretch xmlns:a="http://schemas.openxmlformats.org/drawingml/2006/main"/>
        </p:blipFill>
        <p:spPr>
          <a:xfrm xmlns:a="http://schemas.openxmlformats.org/drawingml/2006/main">
            <a:off x="1662113" y="5524500"/>
            <a:ext cx="2200275" cy="2000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49BC2-52E1-45C2-A4FF-88AAC444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6737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7B"/>
                </a:solidFill>
              </a:defRPr>
            </a:pPr>
            <a:r>
              <a:rPr sz="1350" b="0">
                <a:solidFill>
                  <a:srgbClr val="526A7B"/>
                </a:solidFill>
              </a:rPr>
              <a:t>The highest site shows a pronounced July spike; otherwise, the two series are generally comparable.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EE9EC-CBBE-4C9F-BF19-BA14FF6B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911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F62"/>
                </a:solidFill>
              </a:defRPr>
            </a:pPr>
            <a:r>
              <a:rPr sz="1650" b="1">
                <a:solidFill>
                  <a:srgbClr val="123F62"/>
                </a:solidFill>
              </a:rPr>
              <a:t>Ozone: highest vs. lowest site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3f7d4803f42bd"/>
          <a:stretch xmlns:a="http://schemas.openxmlformats.org/drawingml/2006/main"/>
        </p:blipFill>
        <p:spPr>
          <a:xfrm xmlns:a="http://schemas.openxmlformats.org/drawingml/2006/main">
            <a:off x="8633460" y="5524500"/>
            <a:ext cx="2640330" cy="20002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10851-4A89-4904-8217-72C444F0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67375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7B"/>
                </a:solidFill>
              </a:defRPr>
            </a:pPr>
            <a:r>
              <a:rPr sz="1350" b="0">
                <a:solidFill>
                  <a:srgbClr val="526A7B"/>
                </a:solidFill>
              </a:rPr>
              <a:t>Ozone follows a seasonal pattern at both sites, with the clearest separation occurring when the lower site declines in winter.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09C82-2C02-4226-95FA-D73BA28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486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A7B"/>
                </a:solidFill>
              </a:defRPr>
            </a:pPr>
            <a:r>
              <a:rPr sz="975" b="0">
                <a:solidFill>
                  <a:srgbClr val="526A7B"/>
                </a:solidFill>
              </a:rPr>
              <a:t>Detroit Air Quality Analysis  •  Group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F6DDF-EE00-487D-8A3A-B23B440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248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A7B"/>
                </a:solidFill>
              </a:defRPr>
            </a:pPr>
            <a:r>
              <a:rPr sz="975" b="1">
                <a:solidFill>
                  <a:srgbClr val="526A7B"/>
                </a:solidFill>
              </a:rPr>
              <a:t>POSTER 1 OF 2</a:t>
            </a:r>
          </a:p>
        </p:txBody>
      </p:sp>
    </p:spTree>
    <p:extLst>
      <p:ext uri="{BB962C8B-B14F-4D97-AF65-F5344CB8AC3E}">
        <p14:creationId xmlns:p14="http://schemas.microsoft.com/office/powerpoint/2010/main" val="608645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2026-08-18T16:41:44.4770000Z</dcterms:created>
  <dcterms:modified xsi:type="dcterms:W3CDTF">2026-08-18T16:41:44.4770000Z</dcterms:modified>
</coreProperties>
</file>