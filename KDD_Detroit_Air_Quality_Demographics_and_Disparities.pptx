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bedb836632411d" /><Relationship Type="http://schemas.openxmlformats.org/officeDocument/2006/relationships/extended-properties" Target="/docProps/app.xml" Id="Re7b97f79d9b24bb0" /><Relationship Type="http://schemas.openxmlformats.org/officeDocument/2006/relationships/officeDocument" Target="/ppt/presentation.xml" Id="R23f4c1f1025646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dc76d89f58452f"/>
  </p:sldMasterIdLst>
  <p:notesMasterIdLst>
    <p:notesMasterId xmlns:r="http://schemas.openxmlformats.org/officeDocument/2006/relationships" r:id="R4e7c535e0bf14d20"/>
  </p:notesMasterIdLst>
  <p:sldIdLst>
    <p:sldId xmlns:r="http://schemas.openxmlformats.org/officeDocument/2006/relationships" id="256" r:id="R45f413266d53421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d1db668bb54949" /><Relationship Type="http://schemas.openxmlformats.org/officeDocument/2006/relationships/slideMaster" Target="/ppt/slideMasters/slideMaster1.xml" Id="Refdc76d89f58452f" /><Relationship Type="http://schemas.openxmlformats.org/officeDocument/2006/relationships/notesMaster" Target="/ppt/notesMasters/notesMaster1.xml" Id="R4e7c535e0bf14d20" /><Relationship Type="http://schemas.openxmlformats.org/officeDocument/2006/relationships/presProps" Target="/ppt/presProps.xml" Id="Rc835a4942e40469c" /><Relationship Type="http://schemas.openxmlformats.org/officeDocument/2006/relationships/tableStyles" Target="/ppt/tableStyles.xml" Id="R6d258cd0811e4024" /><Relationship Type="http://schemas.openxmlformats.org/officeDocument/2006/relationships/slide" Target="/ppt/slides/slide1.xml" Id="R45f413266d5342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bf33a0530c42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d3be77ba1084c29" /><Relationship Type="http://schemas.openxmlformats.org/officeDocument/2006/relationships/notesMaster" Target="/ppt/notesMasters/notesMaster1.xml" Id="Rde424bd4b16d42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7f370ae6334a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d63afdd3e94fb8" /><Relationship Type="http://schemas.openxmlformats.org/officeDocument/2006/relationships/slideLayout" Target="/ppt/slideLayouts/slideLayout1.xml" Id="R768baa065ef1402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8baa065ef140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0281bc31544fbb" /><Relationship Type="http://schemas.openxmlformats.org/officeDocument/2006/relationships/image" Target="/ppt/media/image.png" Id="Rde2ccbfc4cd34135" /><Relationship Type="http://schemas.openxmlformats.org/officeDocument/2006/relationships/image" Target="/ppt/media/image2.png" Id="Rfc117a0778fe4811" /><Relationship Type="http://schemas.openxmlformats.org/officeDocument/2006/relationships/image" Target="/ppt/media/image3.png" Id="R06e175c28aba4fc5" /><Relationship Type="http://schemas.openxmlformats.org/officeDocument/2006/relationships/image" Target="/ppt/media/image4.png" Id="R036213e25f5b4b91" /><Relationship Type="http://schemas.openxmlformats.org/officeDocument/2006/relationships/notesSlide" Target="/ppt/notesSlides/notesSlide1.xml" Id="R469b7f78241d4dc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0ADEAF-99F7-4D1E-BB65-6A446F07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F62"/>
          </a:solidFill>
          <a:ln xmlns:a="http://schemas.openxmlformats.org/drawingml/2006/main" w="0">
            <a:solidFill>
              <a:srgbClr val="123F6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BE2DC-C13F-4E4E-8125-D0089812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"/>
            <a:ext cx="1390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Detroit Monitoring Coverage Misses Community Patterns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8235B-0F95-48C0-839E-038C26C1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81050"/>
            <a:ext cx="1390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FE9EF"/>
                </a:solidFill>
              </a:defRPr>
            </a:pPr>
            <a:r>
              <a:rPr sz="1275" b="0">
                <a:solidFill>
                  <a:srgbClr val="CFE9EF"/>
                </a:solidFill>
              </a:rPr>
              <a:t>Demographics, population distribution, and environmental-justice implications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71AEC-3521-4734-8304-50B5C74A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solidFill>
              <a:srgbClr val="F4B9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155168-EA3E-4C5B-B9E1-8240EDEA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790"/>
          </a:solidFill>
          <a:ln xmlns:a="http://schemas.openxmlformats.org/drawingml/2006/main" w="0">
            <a:solidFill>
              <a:srgbClr val="2F879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2584F-248D-40B3-8CE3-895B38A8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F62"/>
                </a:solidFill>
              </a:defRPr>
            </a:pPr>
            <a:r>
              <a:rPr sz="1875" b="1">
                <a:solidFill>
                  <a:srgbClr val="123F62"/>
                </a:solidFill>
              </a:rPr>
              <a:t>Who lives near the monitoring network?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83C31-B410-449D-9C65-11F82F43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676275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E67991-92F8-422F-91D3-A914DB84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85950"/>
            <a:ext cx="6858000" cy="2781300"/>
          </a:xfrm>
          <a:prstGeom xmlns:a="http://schemas.openxmlformats.org/drawingml/2006/main" prst="roundRect">
            <a:avLst>
              <a:gd name="adj" fmla="val 41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CD79F4-706C-47C0-8F0A-BBF2EC07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28825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F62"/>
                </a:solidFill>
              </a:defRPr>
            </a:pPr>
            <a:r>
              <a:rPr sz="1650" b="1">
                <a:solidFill>
                  <a:srgbClr val="123F62"/>
                </a:solidFill>
              </a:rPr>
              <a:t>Race and monitoring locations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ccbfc4cd34135"/>
          <a:stretch xmlns:a="http://schemas.openxmlformats.org/drawingml/2006/main"/>
        </p:blipFill>
        <p:spPr>
          <a:xfrm xmlns:a="http://schemas.openxmlformats.org/drawingml/2006/main">
            <a:off x="2218109" y="2362200"/>
            <a:ext cx="3660032" cy="204787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A78BD-05E6-4AE9-9A8B-AC50EDD90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28825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23F62"/>
                </a:solidFill>
              </a:defRPr>
            </a:pPr>
            <a:r>
              <a:rPr sz="1650" b="1">
                <a:solidFill>
                  <a:srgbClr val="123F62"/>
                </a:solidFill>
              </a:rPr>
              <a:t>Population and monitoring locations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17a0778fe4811"/>
          <a:stretch xmlns:a="http://schemas.openxmlformats.org/drawingml/2006/main"/>
        </p:blipFill>
        <p:spPr>
          <a:xfrm xmlns:a="http://schemas.openxmlformats.org/drawingml/2006/main">
            <a:off x="9444949" y="2362200"/>
            <a:ext cx="3398601" cy="204787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DE611C-1996-453C-ADC3-A7A321DE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790"/>
          </a:solidFill>
          <a:ln xmlns:a="http://schemas.openxmlformats.org/drawingml/2006/main" w="0">
            <a:solidFill>
              <a:srgbClr val="2F879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E79AC-32FE-44CD-A7E1-2D20956F4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23F62"/>
                </a:solidFill>
              </a:defRPr>
            </a:pPr>
            <a:r>
              <a:rPr sz="1875" b="1">
                <a:solidFill>
                  <a:srgbClr val="123F62"/>
                </a:solidFill>
              </a:rPr>
              <a:t>What disparities emerge?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BA113-F756-4F54-B633-459476E9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657225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8142B-C6EA-448B-98CA-76223274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353050"/>
            <a:ext cx="4762500" cy="26289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AC7049-98BB-4028-A108-99C7B4674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495925"/>
            <a:ext cx="609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F62"/>
                </a:solidFill>
              </a:defRPr>
            </a:pPr>
            <a:r>
              <a:rPr sz="1575" b="1">
                <a:solidFill>
                  <a:srgbClr val="123F62"/>
                </a:solidFill>
              </a:rPr>
              <a:t>More land area does not mean more monitors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175c28aba4fc5"/>
          <a:stretch xmlns:a="http://schemas.openxmlformats.org/drawingml/2006/main"/>
        </p:blipFill>
        <p:spPr>
          <a:xfrm xmlns:a="http://schemas.openxmlformats.org/drawingml/2006/main">
            <a:off x="1532747" y="5829300"/>
            <a:ext cx="2363755" cy="18097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F6565-FAD2-494D-A768-74F1CB62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000750"/>
            <a:ext cx="2238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26A7B"/>
                </a:solidFill>
              </a:defRPr>
            </a:pPr>
            <a:r>
              <a:rPr sz="1275" b="0">
                <a:solidFill>
                  <a:srgbClr val="526A7B"/>
                </a:solidFill>
              </a:rPr>
              <a:t>The weak relationship suggests that monitoring coverage is uneven and cannot be explained by state size alone.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36E066-A432-4884-BF39-681D882D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495925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23F62"/>
                </a:solidFill>
              </a:defRPr>
            </a:pPr>
            <a:r>
              <a:rPr sz="1575" b="1">
                <a:solidFill>
                  <a:srgbClr val="123F62"/>
                </a:solidFill>
              </a:rPr>
              <a:t>Race, insurance, and vulnerability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6213e25f5b4b91"/>
          <a:stretch xmlns:a="http://schemas.openxmlformats.org/drawingml/2006/main"/>
        </p:blipFill>
        <p:spPr>
          <a:xfrm xmlns:a="http://schemas.openxmlformats.org/drawingml/2006/main">
            <a:off x="7991281" y="5829300"/>
            <a:ext cx="2400689" cy="1809750"/>
          </a:xfrm>
          <a:prstGeom xmlns:a="http://schemas.openxmlformats.org/drawingml/2006/main" prst="rect">
            <a:avLst/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6F75A-D161-4252-81FE-17E1F820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00750"/>
            <a:ext cx="128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6A7B"/>
                </a:solidFill>
              </a:defRPr>
            </a:pPr>
            <a:r>
              <a:rPr sz="1200" b="0">
                <a:solidFill>
                  <a:srgbClr val="526A7B"/>
                </a:solidFill>
              </a:rPr>
              <a:t>Reduced healthcare access may intensify the consequences of air-pollution exposure for some Detroit residents.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41F863-CD84-4131-943F-5771615F7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5353050"/>
            <a:ext cx="2000250" cy="26289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123F62"/>
          </a:solidFill>
          <a:ln xmlns:a="http://schemas.openxmlformats.org/drawingml/2006/main" w="0">
            <a:solidFill>
              <a:srgbClr val="123F6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4BF851-4A0F-4F16-A39E-E7383AB1E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56007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4B942"/>
                </a:solidFill>
              </a:defRPr>
            </a:pPr>
            <a:r>
              <a:rPr sz="1275" b="1">
                <a:solidFill>
                  <a:srgbClr val="F4B942"/>
                </a:solidFill>
              </a:rPr>
              <a:t>IMPLICATION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8FCA44-170D-4C68-BC24-61303256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6048375"/>
            <a:ext cx="1581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Monitoring should better represent where people live and where exposure burdens are greatest.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241C47-2345-42A9-A191-4CD516B7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248650"/>
            <a:ext cx="619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26A7B"/>
                </a:solidFill>
              </a:defRPr>
            </a:pPr>
            <a:r>
              <a:rPr sz="975" b="0">
                <a:solidFill>
                  <a:srgbClr val="526A7B"/>
                </a:solidFill>
              </a:rPr>
              <a:t>Detroit Air Quality Analysis  •  Group 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F7919B-B80B-4E7C-8148-9FDC522F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82486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26A7B"/>
                </a:solidFill>
              </a:defRPr>
            </a:pPr>
            <a:r>
              <a:rPr sz="975" b="1">
                <a:solidFill>
                  <a:srgbClr val="526A7B"/>
                </a:solidFill>
              </a:rPr>
              <a:t>POSTER 2 OF 2</a:t>
            </a:r>
          </a:p>
        </p:txBody>
      </p:sp>
    </p:spTree>
    <p:extLst>
      <p:ext uri="{BB962C8B-B14F-4D97-AF65-F5344CB8AC3E}">
        <p14:creationId xmlns:p14="http://schemas.microsoft.com/office/powerpoint/2010/main" val="14181247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2026-08-18T16:41:45.1010000Z</dcterms:created>
  <dcterms:modified xsi:type="dcterms:W3CDTF">2026-08-18T16:41:45.1010000Z</dcterms:modified>
</coreProperties>
</file>